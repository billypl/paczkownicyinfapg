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3_AFFDDA9C.xml" ContentType="application/vnd.ms-powerpoint.comments+xml"/>
  <Override PartName="/ppt/comments/modernComment_102_BB1E01E8.xml" ContentType="application/vnd.ms-powerpoint.comments+xml"/>
  <Override PartName="/ppt/comments/modernComment_104_A9B31061.xml" ContentType="application/vnd.ms-powerpoint.comments+xml"/>
  <Override PartName="/ppt/comments/modernComment_105_2A96D998.xml" ContentType="application/vnd.ms-powerpoint.comments+xml"/>
  <Override PartName="/ppt/comments/modernComment_107_EE4F87ED.xml" ContentType="application/vnd.ms-powerpoint.comments+xml"/>
  <Override PartName="/ppt/comments/modernComment_106_F3F688D7.xml" ContentType="application/vnd.ms-powerpoint.comments+xml"/>
  <Override PartName="/ppt/comments/modernComment_108_AB9033A2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8" r:id="rId7"/>
    <p:sldId id="269" r:id="rId8"/>
    <p:sldId id="263" r:id="rId9"/>
    <p:sldId id="262" r:id="rId10"/>
    <p:sldId id="264" r:id="rId11"/>
    <p:sldId id="270" r:id="rId12"/>
    <p:sldId id="271" r:id="rId13"/>
    <p:sldId id="272" r:id="rId14"/>
    <p:sldId id="267" r:id="rId1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E245A4B-B2ED-53FC-2BAC-478ED225D406}" name="Marek Szymański, s193229" initials="Ms" userId="S::s193229@student.pg.edu.pl::89d68f59-6910-4e2f-9b2d-1ff0d8b7928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E6948-C78C-E937-2EB4-B8EA9B7F7B1D}" v="1344" dt="2025-06-15T14:12:59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02_BB1E01E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2BDD1A5-495B-47B9-9B8F-379D0526E1F8}" authorId="{AE245A4B-B2ED-53FC-2BAC-478ED225D406}" created="2025-02-11T15:19:00.855">
    <pc:sldMkLst xmlns:pc="http://schemas.microsoft.com/office/powerpoint/2013/main/command">
      <pc:docMk/>
      <pc:sldMk cId="3139305960" sldId="258"/>
    </pc:sldMkLst>
    <p188:txBody>
      <a:bodyPr/>
      <a:lstStyle/>
      <a:p>
        <a:r>
          <a:rPr lang="pl-PL"/>
          <a:t>do jakiegoś szybkiego opowiedzenia, nie czytać</a:t>
        </a:r>
      </a:p>
    </p188:txBody>
  </p188:cm>
  <p188:cm id="{CDBBC5DB-8E4C-4F2D-800D-AD4AAA821006}" authorId="{AE245A4B-B2ED-53FC-2BAC-478ED225D406}" created="2025-02-11T15:19:27.839">
    <pc:sldMkLst xmlns:pc="http://schemas.microsoft.com/office/powerpoint/2013/main/command">
      <pc:docMk/>
      <pc:sldMk cId="3139305960" sldId="258"/>
    </pc:sldMkLst>
    <p188:txBody>
      <a:bodyPr/>
      <a:lstStyle/>
      <a:p>
        <a:r>
          <a:rPr lang="pl-PL"/>
          <a:t>może inaczej</a:t>
        </a:r>
      </a:p>
    </p188:txBody>
  </p188:cm>
</p188:cmLst>
</file>

<file path=ppt/comments/modernComment_103_AFFDDA9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611183C-B7AF-41C9-BEC0-740E8D682FAC}" authorId="{AE245A4B-B2ED-53FC-2BAC-478ED225D406}" created="2025-02-11T15:18:31.19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952649372" sldId="259"/>
      <ac:spMk id="14" creationId="{CBC4F608-B4B8-48C3-9572-C0F061B1CD99}"/>
    </ac:deMkLst>
    <p188:txBody>
      <a:bodyPr/>
      <a:lstStyle/>
      <a:p>
        <a:r>
          <a:rPr lang="pl-PL"/>
          <a:t>pytanie: wpisywać chemików ?</a:t>
        </a:r>
      </a:p>
    </p188:txBody>
  </p188:cm>
</p188:cmLst>
</file>

<file path=ppt/comments/modernComment_104_A9B3106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49315EF-5468-4529-9C54-68CD74B6F178}" authorId="{AE245A4B-B2ED-53FC-2BAC-478ED225D406}" created="2025-02-11T15:12:00.8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7084641" sldId="260"/>
      <ac:spMk id="3" creationId="{B5942836-EA9C-1460-8021-D00BE5B64F02}"/>
    </ac:deMkLst>
    <p188:txBody>
      <a:bodyPr/>
      <a:lstStyle/>
      <a:p>
        <a:r>
          <a:rPr lang="pl-PL"/>
          <a:t>dawać daty czy nie ?</a:t>
        </a:r>
      </a:p>
    </p188:txBody>
  </p188:cm>
  <p188:cm id="{CB2DDD53-0091-4F94-BBB6-0DBEAE85A17E}" authorId="{AE245A4B-B2ED-53FC-2BAC-478ED225D406}" created="2025-02-11T15:13:21.16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7084641" sldId="260"/>
      <ac:spMk id="3" creationId="{B5942836-EA9C-1460-8021-D00BE5B64F02}"/>
    </ac:deMkLst>
    <p188:txBody>
      <a:bodyPr/>
      <a:lstStyle/>
      <a:p>
        <a:r>
          <a:rPr lang="pl-PL"/>
          <a:t>można wykorzystać ten slajd do ogólnego omówienia postępów i stanu realizacji poszczególnych punktów, a przy kolejnych bardziej szczegółowo rozwinąć</a:t>
        </a:r>
      </a:p>
    </p188:txBody>
  </p188:cm>
  <p188:cm id="{4C1C19C6-E74E-4772-949C-79DF192DF957}" authorId="{AE245A4B-B2ED-53FC-2BAC-478ED225D406}" created="2025-02-11T15:17:19.4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7084641" sldId="260"/>
      <ac:picMk id="5" creationId="{1135F49B-29E3-6B28-72BE-5CB8E0DC2144}"/>
    </ac:deMkLst>
    <p188:txBody>
      <a:bodyPr/>
      <a:lstStyle/>
      <a:p>
        <a:r>
          <a:rPr lang="pl-PL"/>
          <a:t>może jakiś obrazek żeby było ładniej ?</a:t>
        </a:r>
      </a:p>
    </p188:txBody>
  </p188:cm>
</p188:cmLst>
</file>

<file path=ppt/comments/modernComment_105_2A96D99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F2F4C27-51D0-4604-AA6C-9EB3B42DDE6A}" authorId="{AE245A4B-B2ED-53FC-2BAC-478ED225D406}" created="2025-02-11T15:38:11.383">
    <pc:sldMkLst xmlns:pc="http://schemas.microsoft.com/office/powerpoint/2013/main/command">
      <pc:docMk/>
      <pc:sldMk cId="714529176" sldId="261"/>
    </pc:sldMkLst>
    <p188:txBody>
      <a:bodyPr/>
      <a:lstStyle/>
      <a:p>
        <a:r>
          <a:rPr lang="pl-PL"/>
          <a:t>pomysł jest taki żeby omówić tutaj co zrobiliśmy, jak działa i ewentualnie problemy (ale może bez tego, bo głównym problemem była komunikacja z Olewniczakiem)</a:t>
        </a:r>
      </a:p>
    </p188:txBody>
  </p188:cm>
</p188:cmLst>
</file>

<file path=ppt/comments/modernComment_106_F3F688D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94468C-6850-4507-906C-BA1D87615044}" authorId="{AE245A4B-B2ED-53FC-2BAC-478ED225D406}" created="2025-02-11T16:16:50.619">
    <pc:sldMkLst xmlns:pc="http://schemas.microsoft.com/office/powerpoint/2013/main/command">
      <pc:docMk/>
      <pc:sldMk cId="4093020375" sldId="262"/>
    </pc:sldMkLst>
    <p188:txBody>
      <a:bodyPr/>
      <a:lstStyle/>
      <a:p>
        <a:r>
          <a:rPr lang="pl-PL"/>
          <a:t>tutaj możemy opowiedzieć o danych, które zbieramy + trudności w ich pozyskiwaniu i z czego wynikają</a:t>
        </a:r>
      </a:p>
    </p188:txBody>
  </p188:cm>
  <p188:cm id="{21683A9B-FB30-4AC4-8C1B-4C32A8111E69}" authorId="{AE245A4B-B2ED-53FC-2BAC-478ED225D406}" created="2025-02-11T16:17:02.44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93020375" sldId="262"/>
      <ac:spMk id="3" creationId="{358F3FDA-883F-3764-1A39-154367F445FC}"/>
      <ac:txMk cp="99">
        <ac:context len="239" hash="2267496644"/>
      </ac:txMk>
    </ac:txMkLst>
    <p188:pos x="2686050" y="1238250"/>
    <p188:txBody>
      <a:bodyPr/>
      <a:lstStyle/>
      <a:p>
        <a:r>
          <a:rPr lang="pl-PL"/>
          <a:t>status do zmiany</a:t>
        </a:r>
      </a:p>
    </p188:txBody>
  </p188:cm>
</p188:cmLst>
</file>

<file path=ppt/comments/modernComment_107_EE4F87E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5FD614F-6B6C-43F2-8A08-2D49731FCD70}" authorId="{AE245A4B-B2ED-53FC-2BAC-478ED225D406}" created="2025-02-11T16:36:49.6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98189549" sldId="263"/>
      <ac:spMk id="3" creationId="{1861C4BB-44E7-AFB6-7025-7CEB58BE2435}"/>
    </ac:deMkLst>
    <p188:txBody>
      <a:bodyPr/>
      <a:lstStyle/>
      <a:p>
        <a:r>
          <a:rPr lang="pl-PL"/>
          <a:t>tutaj można by powiedzieć co robimy aktualnie, ale nie wiem co więcej dałoby się sensownie - może slajd do wywalenia</a:t>
        </a:r>
      </a:p>
    </p188:txBody>
  </p188:cm>
</p188:cmLst>
</file>

<file path=ppt/comments/modernComment_108_AB9033A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F8E28CE-D459-4895-9023-8F7C8EEFEA6C}" authorId="{AE245A4B-B2ED-53FC-2BAC-478ED225D406}" created="2025-02-11T17:57:45.85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78354338" sldId="264"/>
      <ac:picMk id="4" creationId="{2599A24F-B4F8-DE03-6517-85202584B612}"/>
    </ac:deMkLst>
    <p188:txBody>
      <a:bodyPr/>
      <a:lstStyle/>
      <a:p>
        <a:r>
          <a:rPr lang="pl-PL"/>
          <a:t>schemat aktualnej sieci, abstrahując od tego czy ma sens, jest tym co mamy na teraz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AFFDDA9C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BB1E01E8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A9B3106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5_2A96D99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107_EE4F87ED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106_F3F688D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08_AB9033A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7886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pl-PL" sz="4500"/>
              <a:t>Oprogramowanie do analizy obrazów błony kosmówkowo-omoczniowej (model CAM) zarodków jaj kurzych za pomocą sieci neuronowych</a:t>
            </a:r>
          </a:p>
          <a:p>
            <a:endParaRPr lang="pl-PL" sz="450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EE534DE-B845-450A-FF15-DD3218430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pl-PL" sz="5400" dirty="0"/>
              <a:t>Zespół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D4FE44C-2A7D-554C-DBD2-70954CC1E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r>
              <a:rPr lang="pl-PL" sz="2000" dirty="0"/>
              <a:t>Mateusz </a:t>
            </a:r>
            <a:r>
              <a:rPr lang="pl-PL" sz="2000" err="1"/>
              <a:t>Nurczyński</a:t>
            </a:r>
            <a:r>
              <a:rPr lang="pl-PL" sz="2000" dirty="0"/>
              <a:t> - kierownik zespołu</a:t>
            </a:r>
          </a:p>
          <a:p>
            <a:r>
              <a:rPr lang="pl-PL" sz="2000" dirty="0"/>
              <a:t>Paweł Bogdanowicz</a:t>
            </a:r>
          </a:p>
          <a:p>
            <a:r>
              <a:rPr lang="pl-PL" sz="2000" dirty="0"/>
              <a:t>Michał </a:t>
            </a:r>
            <a:r>
              <a:rPr lang="pl-PL" sz="2000" err="1"/>
              <a:t>Ganczarenko</a:t>
            </a:r>
            <a:endParaRPr lang="pl-PL" sz="2000"/>
          </a:p>
          <a:p>
            <a:r>
              <a:rPr lang="pl-PL" sz="2000" dirty="0"/>
              <a:t>Marek Szymański</a:t>
            </a:r>
          </a:p>
        </p:txBody>
      </p:sp>
    </p:spTree>
    <p:extLst>
      <p:ext uri="{BB962C8B-B14F-4D97-AF65-F5344CB8AC3E}">
        <p14:creationId xmlns:p14="http://schemas.microsoft.com/office/powerpoint/2010/main" val="29526493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C4484A2-63C6-C856-6B47-54CD31D45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pl-PL" sz="5400" dirty="0"/>
              <a:t>Cel projektu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FFCACA9-B011-6843-F8C0-97B81ABB8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pl-PL" sz="2400" dirty="0">
                <a:ea typeface="+mn-lt"/>
                <a:cs typeface="+mn-lt"/>
              </a:rPr>
              <a:t>CAM (błona kosmówkowo-</a:t>
            </a:r>
            <a:r>
              <a:rPr lang="pl-PL" sz="2400" dirty="0" err="1">
                <a:ea typeface="+mn-lt"/>
                <a:cs typeface="+mn-lt"/>
              </a:rPr>
              <a:t>omoczniowa</a:t>
            </a:r>
            <a:r>
              <a:rPr lang="pl-PL" sz="2400" dirty="0">
                <a:ea typeface="+mn-lt"/>
                <a:cs typeface="+mn-lt"/>
              </a:rPr>
              <a:t>) jest silnie unaczynioną tkanką, której obserwacja może posłużyć do badań z dziedzin kosmetologii, onkologii oraz alergologii.</a:t>
            </a:r>
            <a:endParaRPr lang="pl-PL" dirty="0"/>
          </a:p>
          <a:p>
            <a:r>
              <a:rPr lang="pl-PL" sz="2400" dirty="0">
                <a:ea typeface="+mn-lt"/>
                <a:cs typeface="+mn-lt"/>
              </a:rPr>
              <a:t>Odpowiednio przygotowane zarodki przed i po przeprowadzeniu badań są fotografowane i opisywane przez specjalistów, analiza zdjęć jest jednak żmudna i czasochłonna.</a:t>
            </a:r>
            <a:endParaRPr lang="pl-PL"/>
          </a:p>
          <a:p>
            <a:r>
              <a:rPr lang="pl-PL" sz="2400" dirty="0">
                <a:ea typeface="+mn-lt"/>
                <a:cs typeface="+mn-lt"/>
              </a:rPr>
              <a:t>Zauważając ten problem, wychodzimy z propozycją rozwiązania opartego o sztuczne sieci neuronowe, których zadaniem będzie analiza obrazów błony i ocena przydatności materiału do dalszych badań.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31393059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5">
            <a:extLst>
              <a:ext uri="{FF2B5EF4-FFF2-40B4-BE49-F238E27FC236}">
                <a16:creationId xmlns:a16="http://schemas.microsoft.com/office/drawing/2014/main" id="{6EFC920F-B85A-4068-BD93-41064EDE9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7">
            <a:extLst>
              <a:ext uri="{FF2B5EF4-FFF2-40B4-BE49-F238E27FC236}">
                <a16:creationId xmlns:a16="http://schemas.microsoft.com/office/drawing/2014/main" id="{1C559108-BBAE-426C-8564-051D2BA6D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2BC35EE-6650-42D2-AEFB-4B7CD1AFC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952C743-9049-4DFB-878B-2AB07B6E4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AE5E174-8553-E348-140E-F7F8DF4C7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25" y="1238081"/>
            <a:ext cx="4709345" cy="962953"/>
          </a:xfrm>
        </p:spPr>
        <p:txBody>
          <a:bodyPr anchor="b">
            <a:normAutofit/>
          </a:bodyPr>
          <a:lstStyle/>
          <a:p>
            <a:r>
              <a:rPr lang="pl-PL" sz="3200" dirty="0"/>
              <a:t>Harmonogram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39885" y="2372170"/>
            <a:ext cx="43891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5942836-EA9C-1460-8021-D00BE5B64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489" y="2508105"/>
            <a:ext cx="5273016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2000" dirty="0"/>
              <a:t>Budowa aplikacji do zbierania danych</a:t>
            </a:r>
          </a:p>
          <a:p>
            <a:r>
              <a:rPr lang="pl-PL" sz="2000" dirty="0"/>
              <a:t>Zbieranie i przygotowywanie danych</a:t>
            </a:r>
          </a:p>
          <a:p>
            <a:r>
              <a:rPr lang="pl-PL" sz="2000" dirty="0"/>
              <a:t>Praca nad modelami AI</a:t>
            </a:r>
          </a:p>
          <a:p>
            <a:r>
              <a:rPr lang="pl-PL" sz="2000" dirty="0"/>
              <a:t>Budowa finalnej aplikacji </a:t>
            </a:r>
          </a:p>
        </p:txBody>
      </p:sp>
    </p:spTree>
    <p:extLst>
      <p:ext uri="{BB962C8B-B14F-4D97-AF65-F5344CB8AC3E}">
        <p14:creationId xmlns:p14="http://schemas.microsoft.com/office/powerpoint/2010/main" val="28470846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7412B8E-484B-4452-8644-AD263F593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6783F1C-5E2D-44EB-EA91-A223B322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 fontScale="90000"/>
          </a:bodyPr>
          <a:lstStyle/>
          <a:p>
            <a:r>
              <a:rPr lang="pl-PL" sz="3600" dirty="0"/>
              <a:t>Aplikacja do etykietowania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1F2622E-C8A2-858D-7029-CA93BBB93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1800" dirty="0"/>
              <a:t>Cel: webowy interfejs do przesyłania i etykietowania zdjęć błony</a:t>
            </a:r>
          </a:p>
          <a:p>
            <a:r>
              <a:rPr lang="pl-PL" sz="1800" dirty="0"/>
              <a:t>Odpowiedzialni: Paweł Bogdanowicz, Marek Szymański</a:t>
            </a:r>
          </a:p>
          <a:p>
            <a:r>
              <a:rPr lang="pl-PL" sz="1800" dirty="0"/>
              <a:t>Technologia:  </a:t>
            </a:r>
            <a:r>
              <a:rPr lang="pl-PL" sz="1800" dirty="0" err="1"/>
              <a:t>Python</a:t>
            </a:r>
            <a:r>
              <a:rPr lang="pl-PL" sz="1800" dirty="0"/>
              <a:t> </a:t>
            </a:r>
            <a:r>
              <a:rPr lang="pl-PL" sz="1800" dirty="0" err="1"/>
              <a:t>Flask</a:t>
            </a:r>
            <a:r>
              <a:rPr lang="pl-PL" sz="1800" dirty="0"/>
              <a:t>, </a:t>
            </a:r>
            <a:r>
              <a:rPr lang="pl-PL" sz="1800" dirty="0" err="1"/>
              <a:t>MongoDB</a:t>
            </a:r>
            <a:endParaRPr lang="pl-PL" sz="1800" dirty="0"/>
          </a:p>
          <a:p>
            <a:r>
              <a:rPr lang="pl-PL" sz="1800" dirty="0"/>
              <a:t>Status: </a:t>
            </a:r>
            <a:r>
              <a:rPr lang="pl-PL" sz="1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zrealizowano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FD95D09-2666-454C-AE57-F5C7D8660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9" y="650054"/>
            <a:ext cx="4719382" cy="55964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raz 6" descr="Obraz zawierający tekst, zrzut ekranu, Czcion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855E8572-AA01-9C90-5CEB-32702CDB1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641" y="873941"/>
            <a:ext cx="1955338" cy="2577402"/>
          </a:xfrm>
          <a:prstGeom prst="rect">
            <a:avLst/>
          </a:prstGeom>
        </p:spPr>
      </p:pic>
      <p:pic>
        <p:nvPicPr>
          <p:cNvPr id="6" name="Obraz 5" descr="Obraz zawierający tekst, zrzut ekranu, Czcionka, numer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CE0ED6A5-6F2A-A812-36D7-48F0BAC27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8034" y="797740"/>
            <a:ext cx="2134520" cy="2634552"/>
          </a:xfrm>
          <a:prstGeom prst="rect">
            <a:avLst/>
          </a:prstGeom>
        </p:spPr>
      </p:pic>
      <p:pic>
        <p:nvPicPr>
          <p:cNvPr id="8" name="Obraz 7" descr="Obraz zawierający zrzut ekranu, pomarańcza/pomarańczowy, Wielobarwność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9EAE8305-BBC9-A888-3446-718E172BB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2656" y="3792710"/>
            <a:ext cx="4258492" cy="1831151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5291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2252B7-DFF0-7C51-2535-C0B6DAF3E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5">
            <a:extLst>
              <a:ext uri="{FF2B5EF4-FFF2-40B4-BE49-F238E27FC236}">
                <a16:creationId xmlns:a16="http://schemas.microsoft.com/office/drawing/2014/main" id="{C4A8F518-03BC-A249-C6FE-765BD1E84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7">
            <a:extLst>
              <a:ext uri="{FF2B5EF4-FFF2-40B4-BE49-F238E27FC236}">
                <a16:creationId xmlns:a16="http://schemas.microsoft.com/office/drawing/2014/main" id="{E7563339-4DB4-5C4C-8CDA-4BA9C304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C80EB96-11A1-5D65-67CB-FC597D5C8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BF6CC88-3EB5-D07D-720A-78B6FB4EA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3179538-7BD0-0B9D-5449-B1260DA46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10A0D1A-281F-6AF2-9CB1-75E0CA32E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525" y="1238081"/>
            <a:ext cx="9243245" cy="962953"/>
          </a:xfrm>
        </p:spPr>
        <p:txBody>
          <a:bodyPr anchor="b">
            <a:normAutofit/>
          </a:bodyPr>
          <a:lstStyle/>
          <a:p>
            <a:r>
              <a:rPr lang="pl-PL" sz="3200" dirty="0"/>
              <a:t>Spotkania i wizyty u klientów - specyfikacja wymagań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4E752F-69F0-2C0B-D349-E523909F4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39885" y="2372170"/>
            <a:ext cx="43891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9F2E738-FE82-AA50-7EDC-BEA60333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489" y="2508105"/>
            <a:ext cx="6997041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2000" dirty="0"/>
              <a:t>Nie możemy przeskalowywać zdjęć, tak aby pasowały do rozmiaru warstwy wejściowej</a:t>
            </a:r>
          </a:p>
          <a:p>
            <a:r>
              <a:rPr lang="pl-PL" sz="2000" dirty="0"/>
              <a:t>Skupiamy się na liczeniu rozgałęzień i stwierdzaniu uszkodzeń tkanki (widocznych na przykład w postaci rozlanych i rozerwanych naczynek) - pozostałe parametry mniej istotne</a:t>
            </a:r>
          </a:p>
          <a:p>
            <a:r>
              <a:rPr lang="pl-PL" sz="2000" dirty="0"/>
              <a:t>Stwierdzanie uszkodzeń raczej w odniesieniu do konkretnego fragmentu tkanki – stwierdzenie że cała błona jest zniszczona jest proste, tu chodzi bardziej o analizę w jakim miejscu błony można umieścić próbkę</a:t>
            </a:r>
          </a:p>
        </p:txBody>
      </p:sp>
    </p:spTree>
    <p:extLst>
      <p:ext uri="{BB962C8B-B14F-4D97-AF65-F5344CB8AC3E}">
        <p14:creationId xmlns:p14="http://schemas.microsoft.com/office/powerpoint/2010/main" val="4252912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C2C18-8BA3-2134-763A-55F9308B2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5">
            <a:extLst>
              <a:ext uri="{FF2B5EF4-FFF2-40B4-BE49-F238E27FC236}">
                <a16:creationId xmlns:a16="http://schemas.microsoft.com/office/drawing/2014/main" id="{E256BF95-0E7C-4BC8-6C77-A6DE7BC1F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7">
            <a:extLst>
              <a:ext uri="{FF2B5EF4-FFF2-40B4-BE49-F238E27FC236}">
                <a16:creationId xmlns:a16="http://schemas.microsoft.com/office/drawing/2014/main" id="{5211D457-B8A6-77E9-0057-951C16ABD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DAD506-EE73-66FD-2696-BC3AFC890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661988F-9C52-A648-9BCB-B43369301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EFCC65B-4574-C87B-DE88-9F9A0115D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8677AA8-CCF1-E351-6BDC-AE270899B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525" y="1238081"/>
            <a:ext cx="9243245" cy="962953"/>
          </a:xfrm>
        </p:spPr>
        <p:txBody>
          <a:bodyPr anchor="b">
            <a:normAutofit/>
          </a:bodyPr>
          <a:lstStyle/>
          <a:p>
            <a:r>
              <a:rPr lang="pl-PL" sz="3200" dirty="0"/>
              <a:t>Zmiany w planowanym rozwiązaniu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E27AF6-B815-5EF5-62C2-C56F929F2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39885" y="2372170"/>
            <a:ext cx="43891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36F3450-5F90-077F-FE20-370E5A93B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489" y="2508105"/>
            <a:ext cx="6196941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2000" dirty="0"/>
              <a:t>Analizę przeprowadzamy na fragmentach zdjęć - 224 na 224 piksele</a:t>
            </a:r>
          </a:p>
          <a:p>
            <a:r>
              <a:rPr lang="pl-PL" sz="2000" dirty="0"/>
              <a:t>Każdy fragment trzeba etykietować osobno </a:t>
            </a:r>
          </a:p>
          <a:p>
            <a:r>
              <a:rPr lang="pl-PL" sz="2000" dirty="0"/>
              <a:t>Prezentujemy wyniki dla każdego fragmentu osobno </a:t>
            </a:r>
          </a:p>
          <a:p>
            <a:r>
              <a:rPr lang="pl-PL" sz="2000" dirty="0"/>
              <a:t>Konieczne jest oddzielenie przydatnych fragmentów od tych niezawierających błony</a:t>
            </a:r>
          </a:p>
        </p:txBody>
      </p:sp>
    </p:spTree>
    <p:extLst>
      <p:ext uri="{BB962C8B-B14F-4D97-AF65-F5344CB8AC3E}">
        <p14:creationId xmlns:p14="http://schemas.microsoft.com/office/powerpoint/2010/main" val="1698556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ECA6DCB-B7E1-40A9-9524-540C6DA40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C69E2C9-ADDE-29AA-19E6-0C304DE08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 fontScale="90000"/>
          </a:bodyPr>
          <a:lstStyle/>
          <a:p>
            <a:r>
              <a:rPr lang="pl-PL" sz="4000" dirty="0"/>
              <a:t>Model odrzucający nieprzydatne fragmenty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861C4BB-44E7-AFB6-7025-7CEB58BE2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2000" dirty="0"/>
              <a:t>Cel: Sieć neuronowa na bazie modelu </a:t>
            </a:r>
            <a:r>
              <a:rPr lang="pl-PL" sz="2000" dirty="0" err="1"/>
              <a:t>ResNet</a:t>
            </a:r>
            <a:r>
              <a:rPr lang="pl-PL" sz="2000" dirty="0"/>
              <a:t> – klasyfikator binarny</a:t>
            </a:r>
          </a:p>
          <a:p>
            <a:r>
              <a:rPr lang="pl-PL" sz="2000" dirty="0"/>
              <a:t>Odpowiedzialni: Marek Szymański</a:t>
            </a:r>
          </a:p>
          <a:p>
            <a:r>
              <a:rPr lang="pl-PL" sz="2000" dirty="0"/>
              <a:t>Status: </a:t>
            </a:r>
            <a:r>
              <a:rPr lang="pl-PL" sz="2000" dirty="0">
                <a:solidFill>
                  <a:srgbClr val="00B050"/>
                </a:solidFill>
              </a:rPr>
              <a:t> 99% dokładności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az 3" descr="Obraz zawierający ubrania, materiał, żółty, Bursztyn&#10;&#10;Zawartość wygenerowana przez AI może być niepoprawna.">
            <a:extLst>
              <a:ext uri="{FF2B5EF4-FFF2-40B4-BE49-F238E27FC236}">
                <a16:creationId xmlns:a16="http://schemas.microsoft.com/office/drawing/2014/main" id="{00E16348-CA0C-CF72-7977-8AC45E263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822" y="3700849"/>
            <a:ext cx="2555789" cy="2524897"/>
          </a:xfrm>
          <a:prstGeom prst="rect">
            <a:avLst/>
          </a:prstGeom>
        </p:spPr>
      </p:pic>
      <p:pic>
        <p:nvPicPr>
          <p:cNvPr id="5" name="Obraz 4" descr="Obraz zawierający linia, w pomieszczeniu&#10;&#10;Zawartość wygenerowana przez AI może być niepoprawna.">
            <a:extLst>
              <a:ext uri="{FF2B5EF4-FFF2-40B4-BE49-F238E27FC236}">
                <a16:creationId xmlns:a16="http://schemas.microsoft.com/office/drawing/2014/main" id="{772C68BE-3C3A-EFE6-DF79-DEE4CDDCC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822" y="642551"/>
            <a:ext cx="2555789" cy="249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8954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B708185-20C0-40F2-8F2D-8EB9E34B3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9CD9488-0CBC-9540-8F5B-C529BCBE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pl-PL" sz="4000"/>
              <a:t>Zebrane dane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8F3FDA-883F-3764-1A39-154367F44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2000" dirty="0">
                <a:solidFill>
                  <a:srgbClr val="000000"/>
                </a:solidFill>
              </a:rPr>
              <a:t>Kilkadziesiąt tysięcy fragmentów</a:t>
            </a:r>
          </a:p>
          <a:p>
            <a:r>
              <a:rPr lang="pl-PL" sz="2000" dirty="0">
                <a:solidFill>
                  <a:srgbClr val="000000"/>
                </a:solidFill>
              </a:rPr>
              <a:t>Niecałe 200 oznaczonych przez studentów KSB</a:t>
            </a:r>
          </a:p>
          <a:p>
            <a:r>
              <a:rPr lang="pl-PL" sz="2000" dirty="0"/>
              <a:t>Dla każdego określona liczba rozgałęzień oraz binarna informacja o uszkodzeniach tkanki</a:t>
            </a:r>
          </a:p>
          <a:p>
            <a:r>
              <a:rPr lang="pl-PL" sz="2000" dirty="0"/>
              <a:t>Spore rozbieżności w liczbie rozgałęzień, w zależności od liczącej osoby</a:t>
            </a:r>
          </a:p>
          <a:p>
            <a:endParaRPr lang="pl-PL" sz="2000"/>
          </a:p>
        </p:txBody>
      </p:sp>
      <p:pic>
        <p:nvPicPr>
          <p:cNvPr id="9" name="Obraz 8" descr="Obraz zawierający pomarańcza/pomarańczowy, brzoskwinia, Bursztyn, materiał&#10;&#10;Zawartość wygenerowana przez AI może być niepoprawna.">
            <a:extLst>
              <a:ext uri="{FF2B5EF4-FFF2-40B4-BE49-F238E27FC236}">
                <a16:creationId xmlns:a16="http://schemas.microsoft.com/office/drawing/2014/main" id="{F1023CF4-6BB0-E3F6-F1EE-3D85B1706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336" y="1291280"/>
            <a:ext cx="1443680" cy="1412790"/>
          </a:xfrm>
          <a:prstGeom prst="rect">
            <a:avLst/>
          </a:prstGeom>
        </p:spPr>
      </p:pic>
      <p:pic>
        <p:nvPicPr>
          <p:cNvPr id="10" name="Obraz 9" descr="Obraz zawierający pomarańcza/pomarańczowy, Sztuka dziecięca, żółty&#10;&#10;Zawartość wygenerowana przez AI może być niepoprawna.">
            <a:extLst>
              <a:ext uri="{FF2B5EF4-FFF2-40B4-BE49-F238E27FC236}">
                <a16:creationId xmlns:a16="http://schemas.microsoft.com/office/drawing/2014/main" id="{61C2B761-43EE-3729-F4CC-1A222CF1B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4254" y="1291280"/>
            <a:ext cx="1443682" cy="1412791"/>
          </a:xfrm>
          <a:prstGeom prst="rect">
            <a:avLst/>
          </a:prstGeom>
        </p:spPr>
      </p:pic>
      <p:pic>
        <p:nvPicPr>
          <p:cNvPr id="12" name="Obraz 11" descr="Obraz zawierający Beżowy, opalenizna, brązowe&#10;&#10;Zawartość wygenerowana przez AI może być niepoprawna.">
            <a:extLst>
              <a:ext uri="{FF2B5EF4-FFF2-40B4-BE49-F238E27FC236}">
                <a16:creationId xmlns:a16="http://schemas.microsoft.com/office/drawing/2014/main" id="{385513E2-4C21-4DE8-E9E1-3CEC667E8B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335" y="2712308"/>
            <a:ext cx="2895599" cy="292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0203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5B5D9C2-6E8B-5A48-63DE-134FBD200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pl-PL" sz="4800" dirty="0"/>
              <a:t>Sieć oceniająca uszkodzenie tkanki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0484A5D-BC0B-F426-A4FE-7E096403E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2000" dirty="0"/>
              <a:t>Cel: klasyfikator binarny (1 – tkanka zdrowa, 0 – widoczne uszkodzenia)</a:t>
            </a:r>
          </a:p>
          <a:p>
            <a:r>
              <a:rPr lang="pl-PL" sz="2000" dirty="0"/>
              <a:t>Odpowiedzialni: Mateusz </a:t>
            </a:r>
            <a:r>
              <a:rPr lang="pl-PL" sz="2000" dirty="0" err="1"/>
              <a:t>Nurczyński</a:t>
            </a:r>
            <a:r>
              <a:rPr lang="pl-PL" sz="2000" dirty="0"/>
              <a:t>, Marek Szymański</a:t>
            </a:r>
          </a:p>
          <a:p>
            <a:r>
              <a:rPr lang="pl-PL" sz="2000" dirty="0"/>
              <a:t>Technologia: </a:t>
            </a:r>
            <a:r>
              <a:rPr lang="pl-PL" sz="2000" dirty="0" err="1"/>
              <a:t>Python</a:t>
            </a:r>
            <a:r>
              <a:rPr lang="pl-PL" sz="2000" dirty="0"/>
              <a:t> </a:t>
            </a:r>
            <a:r>
              <a:rPr lang="pl-PL" sz="2000" dirty="0" err="1"/>
              <a:t>PyTorch</a:t>
            </a:r>
            <a:r>
              <a:rPr lang="pl-PL" sz="2000" dirty="0"/>
              <a:t>, </a:t>
            </a:r>
            <a:r>
              <a:rPr lang="pl-PL" sz="2000" dirty="0" err="1"/>
              <a:t>Timm</a:t>
            </a:r>
            <a:r>
              <a:rPr lang="pl-PL" sz="2000" dirty="0"/>
              <a:t>, </a:t>
            </a:r>
            <a:r>
              <a:rPr lang="pl-PL" sz="2000" dirty="0" err="1"/>
              <a:t>ResNet</a:t>
            </a:r>
            <a:endParaRPr lang="pl-PL" sz="2000" dirty="0"/>
          </a:p>
          <a:p>
            <a:r>
              <a:rPr lang="pl-PL" sz="2000" dirty="0"/>
              <a:t>Status: </a:t>
            </a:r>
            <a:r>
              <a:rPr lang="pl-PL" sz="2000" dirty="0">
                <a:solidFill>
                  <a:srgbClr val="00B050"/>
                </a:solidFill>
              </a:rPr>
              <a:t>dokładność 93%, precyzja 97%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az 4" descr="Obraz zawierający brązowe, Bursztyn, drzewo&#10;&#10;Zawartość wygenerowana przez AI może być niepoprawna.">
            <a:extLst>
              <a:ext uri="{FF2B5EF4-FFF2-40B4-BE49-F238E27FC236}">
                <a16:creationId xmlns:a16="http://schemas.microsoft.com/office/drawing/2014/main" id="{7974412C-3937-B33E-B12E-DFB6C4984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065" y="3175686"/>
            <a:ext cx="2133600" cy="2133600"/>
          </a:xfrm>
          <a:prstGeom prst="rect">
            <a:avLst/>
          </a:prstGeom>
        </p:spPr>
      </p:pic>
      <p:pic>
        <p:nvPicPr>
          <p:cNvPr id="6" name="Obraz 5" descr="Obraz zawierający brzoskwinia, opalenizna&#10;&#10;Zawartość wygenerowana przez AI może być niepoprawna.">
            <a:extLst>
              <a:ext uri="{FF2B5EF4-FFF2-40B4-BE49-F238E27FC236}">
                <a16:creationId xmlns:a16="http://schemas.microsoft.com/office/drawing/2014/main" id="{A4C1E70B-F0DF-C2E1-0C08-E7EC53FB9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903" y="3175686"/>
            <a:ext cx="21336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35433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16921D-217E-63D4-F9AE-39C824511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0EE5A5-44CA-5CB2-0C44-56F5478C6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8819828-5B0F-B269-6ED0-8442AE586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pl-PL" sz="4800" dirty="0"/>
              <a:t>Model regresyjny liczący rozgałęzienia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E97BE1-B54D-3D36-816B-C9E3BA86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0A4B9D-7128-BADE-8098-B341A0172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84B102E-F74E-D262-541A-6C58088C9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2000" dirty="0"/>
              <a:t>Cel: Model zwracający liczbę od 0 do 1 (0 – brak rozgałęzień, 1 – 200 rozgałęzień)</a:t>
            </a:r>
          </a:p>
          <a:p>
            <a:r>
              <a:rPr lang="pl-PL" sz="2000" dirty="0"/>
              <a:t>Odpowiedzialni: Mateusz </a:t>
            </a:r>
            <a:r>
              <a:rPr lang="pl-PL" sz="2000" dirty="0" err="1"/>
              <a:t>Nurczyński</a:t>
            </a:r>
            <a:r>
              <a:rPr lang="pl-PL" sz="2000" dirty="0"/>
              <a:t>, Marek Szymański, Michał </a:t>
            </a:r>
            <a:r>
              <a:rPr lang="pl-PL" sz="2000" dirty="0" err="1"/>
              <a:t>Ganczarenko</a:t>
            </a:r>
            <a:endParaRPr lang="pl-PL" sz="2000"/>
          </a:p>
          <a:p>
            <a:r>
              <a:rPr lang="pl-PL" sz="2000" dirty="0"/>
              <a:t>Technologia: </a:t>
            </a:r>
            <a:r>
              <a:rPr lang="pl-PL" sz="2000" dirty="0" err="1"/>
              <a:t>Python</a:t>
            </a:r>
            <a:r>
              <a:rPr lang="pl-PL" sz="2000" dirty="0"/>
              <a:t> </a:t>
            </a:r>
            <a:r>
              <a:rPr lang="pl-PL" sz="2000" dirty="0" err="1"/>
              <a:t>PyTorch</a:t>
            </a:r>
            <a:r>
              <a:rPr lang="pl-PL" sz="2000" dirty="0"/>
              <a:t>, </a:t>
            </a:r>
            <a:r>
              <a:rPr lang="pl-PL" sz="2000" dirty="0" err="1"/>
              <a:t>Timm</a:t>
            </a:r>
            <a:r>
              <a:rPr lang="pl-PL" sz="2000" dirty="0"/>
              <a:t>, </a:t>
            </a:r>
            <a:r>
              <a:rPr lang="pl-PL" sz="2000" dirty="0" err="1"/>
              <a:t>ResNet</a:t>
            </a:r>
            <a:endParaRPr lang="pl-PL" sz="2000" dirty="0"/>
          </a:p>
          <a:p>
            <a:r>
              <a:rPr lang="pl-PL" sz="2000" dirty="0"/>
              <a:t>Status: </a:t>
            </a:r>
            <a:r>
              <a:rPr lang="pl-PL" sz="2000" dirty="0">
                <a:solidFill>
                  <a:schemeClr val="accent2"/>
                </a:solidFill>
              </a:rPr>
              <a:t>średni błąd 10 rozgałęzień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7A7DA3-EAB0-C9E3-AAFA-A4DBA8540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az 4" descr="Obraz zawierający brązowe, opalenizna, cień&#10;&#10;Zawartość wygenerowana przez AI może być niepoprawna.">
            <a:extLst>
              <a:ext uri="{FF2B5EF4-FFF2-40B4-BE49-F238E27FC236}">
                <a16:creationId xmlns:a16="http://schemas.microsoft.com/office/drawing/2014/main" id="{A8FC6951-A119-3A02-59DF-F426CFCF8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308" y="2774092"/>
            <a:ext cx="3050059" cy="3091248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CEA37649-0626-CC49-FB8C-A67BDC583D39}"/>
              </a:ext>
            </a:extLst>
          </p:cNvPr>
          <p:cNvSpPr txBox="1"/>
          <p:nvPr/>
        </p:nvSpPr>
        <p:spPr>
          <a:xfrm>
            <a:off x="9957487" y="5436973"/>
            <a:ext cx="142514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1100" i="1" dirty="0"/>
              <a:t>Przykład fragmentu z 36 rozgałęzieniami</a:t>
            </a:r>
          </a:p>
        </p:txBody>
      </p:sp>
    </p:spTree>
    <p:extLst>
      <p:ext uri="{BB962C8B-B14F-4D97-AF65-F5344CB8AC3E}">
        <p14:creationId xmlns:p14="http://schemas.microsoft.com/office/powerpoint/2010/main" val="3525915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3EA381-386E-6940-B0D3-BC301ABE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CC0A10-5972-15DF-F50E-1C9064877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182AF64-B2DD-242A-33C6-01A433FD1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pl-PL" sz="4800" dirty="0"/>
              <a:t>Aplikacja do analizy zdjęć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3F0E18-26B9-59F1-85DA-659E59344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FC6AAA-14D6-712C-7E11-9DB60373E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30D1485-A256-C99C-1AA9-AE954BB0E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584534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2000" dirty="0"/>
              <a:t>Cel: Aplikacja internetowa umożliwiająca wgranie zdjęcia i wyświetlenie wyniku analizy poszczególnych fragmentów</a:t>
            </a:r>
          </a:p>
          <a:p>
            <a:r>
              <a:rPr lang="pl-PL" sz="2000" dirty="0"/>
              <a:t>Odpowiedzialni: Paweł Bogdanowicz</a:t>
            </a:r>
          </a:p>
          <a:p>
            <a:r>
              <a:rPr lang="pl-PL" sz="2000" dirty="0"/>
              <a:t>Technologia: </a:t>
            </a:r>
            <a:r>
              <a:rPr lang="pl-PL" sz="2000" dirty="0" err="1"/>
              <a:t>React</a:t>
            </a:r>
            <a:r>
              <a:rPr lang="pl-PL" sz="2000" dirty="0"/>
              <a:t>, </a:t>
            </a:r>
            <a:r>
              <a:rPr lang="pl-PL" sz="2000" dirty="0" err="1"/>
              <a:t>Python</a:t>
            </a:r>
            <a:r>
              <a:rPr lang="pl-PL" sz="2000" dirty="0"/>
              <a:t> </a:t>
            </a:r>
            <a:r>
              <a:rPr lang="pl-PL" sz="2000" dirty="0" err="1"/>
              <a:t>Flask</a:t>
            </a:r>
            <a:r>
              <a:rPr lang="pl-PL" sz="2000" dirty="0"/>
              <a:t>, </a:t>
            </a:r>
            <a:r>
              <a:rPr lang="pl-PL" sz="2000" dirty="0" err="1"/>
              <a:t>PostgreSQL</a:t>
            </a:r>
            <a:endParaRPr lang="pl-PL" sz="2000"/>
          </a:p>
          <a:p>
            <a:r>
              <a:rPr lang="pl-PL" sz="2000" dirty="0"/>
              <a:t>Status: </a:t>
            </a:r>
            <a:r>
              <a:rPr lang="pl-PL" sz="2000" dirty="0">
                <a:solidFill>
                  <a:srgbClr val="00B050"/>
                </a:solidFill>
              </a:rPr>
              <a:t> zrealizowano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D5CCC9-A905-4046-EF75-CDDB0613C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az 3" descr="Obraz zawierający tekst, zrzut ekranu, oprogramowanie, Ikona komputerowa&#10;&#10;Zawartość wygenerowana przez AI może być niepoprawna.">
            <a:extLst>
              <a:ext uri="{FF2B5EF4-FFF2-40B4-BE49-F238E27FC236}">
                <a16:creationId xmlns:a16="http://schemas.microsoft.com/office/drawing/2014/main" id="{7822C299-38E4-5816-5AED-161D33BDA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431" y="2392168"/>
            <a:ext cx="3857137" cy="1849215"/>
          </a:xfrm>
          <a:prstGeom prst="rect">
            <a:avLst/>
          </a:prstGeom>
        </p:spPr>
      </p:pic>
      <p:pic>
        <p:nvPicPr>
          <p:cNvPr id="5" name="Obraz 4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C627639D-7C6F-57AB-35F2-B7D1379F4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384" y="4317626"/>
            <a:ext cx="3858847" cy="192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3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8978FC-F793-447A-386E-EFC2E5701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5">
            <a:extLst>
              <a:ext uri="{FF2B5EF4-FFF2-40B4-BE49-F238E27FC236}">
                <a16:creationId xmlns:a16="http://schemas.microsoft.com/office/drawing/2014/main" id="{803881F4-7F43-C625-A9A1-74885B640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7">
            <a:extLst>
              <a:ext uri="{FF2B5EF4-FFF2-40B4-BE49-F238E27FC236}">
                <a16:creationId xmlns:a16="http://schemas.microsoft.com/office/drawing/2014/main" id="{CC509891-EFAE-E44F-E767-D228368F3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D3A00A6-12F9-5BDC-0925-AEBEF2DD2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CEBDBF5-4D2C-917B-F696-468743EAB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5E098D3-9EC0-7D7F-112A-B447273BD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8C8B139-E459-F548-4D60-B41FB6CA2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525" y="1238081"/>
            <a:ext cx="9243245" cy="962953"/>
          </a:xfrm>
        </p:spPr>
        <p:txBody>
          <a:bodyPr anchor="b">
            <a:normAutofit/>
          </a:bodyPr>
          <a:lstStyle/>
          <a:p>
            <a:r>
              <a:rPr lang="pl-PL" sz="3200" dirty="0"/>
              <a:t>Plany dalszych prac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9EB036-FBEB-C0E6-AC89-8E7BD2AA8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39885" y="2372170"/>
            <a:ext cx="43891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1038C0A-8DB8-DF5E-C222-EBA6E804D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489" y="2508105"/>
            <a:ext cx="6196941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2000" dirty="0"/>
              <a:t>Spotkanie z klientem, w celu uzyskania informacji zwrotnej</a:t>
            </a:r>
          </a:p>
          <a:p>
            <a:r>
              <a:rPr lang="pl-PL" sz="2000" dirty="0"/>
              <a:t>Budowa lepszego zbioru danych</a:t>
            </a:r>
          </a:p>
          <a:p>
            <a:r>
              <a:rPr lang="pl-PL" sz="2000" dirty="0"/>
              <a:t>Zastosowanie segmentacji do znajdowania rozgałęzień, zamiast modelu regresyjnego do ich liczenia</a:t>
            </a:r>
          </a:p>
        </p:txBody>
      </p:sp>
    </p:spTree>
    <p:extLst>
      <p:ext uri="{BB962C8B-B14F-4D97-AF65-F5344CB8AC3E}">
        <p14:creationId xmlns:p14="http://schemas.microsoft.com/office/powerpoint/2010/main" val="3373061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2E27E80-EA8B-188A-163A-B03226DE2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683"/>
            <a:ext cx="9144000" cy="2551829"/>
          </a:xfrm>
        </p:spPr>
        <p:txBody>
          <a:bodyPr anchor="ctr">
            <a:normAutofit/>
          </a:bodyPr>
          <a:lstStyle/>
          <a:p>
            <a:r>
              <a:rPr lang="pl-PL" sz="6600" dirty="0"/>
              <a:t>Dziękujemy za uwagę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EF3AFAA-E6FE-0206-B77B-1FFAC5299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60469"/>
            <a:ext cx="9144000" cy="1182135"/>
          </a:xfrm>
        </p:spPr>
        <p:txBody>
          <a:bodyPr anchor="ctr">
            <a:normAutofit/>
          </a:bodyPr>
          <a:lstStyle/>
          <a:p>
            <a:endParaRPr lang="pl-PL" sz="2800"/>
          </a:p>
        </p:txBody>
      </p:sp>
    </p:spTree>
    <p:extLst>
      <p:ext uri="{BB962C8B-B14F-4D97-AF65-F5344CB8AC3E}">
        <p14:creationId xmlns:p14="http://schemas.microsoft.com/office/powerpoint/2010/main" val="63342730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Motyw pakietu Office</vt:lpstr>
      <vt:lpstr>Oprogramowanie do analizy obrazów błony kosmówkowo-omoczniowej (model CAM) zarodków jaj kurzych za pomocą sieci neuronowych </vt:lpstr>
      <vt:lpstr>Zespół</vt:lpstr>
      <vt:lpstr>Cel projektu</vt:lpstr>
      <vt:lpstr>Harmonogram</vt:lpstr>
      <vt:lpstr>Aplikacja do etykietowania danych</vt:lpstr>
      <vt:lpstr>Spotkania i wizyty u klientów - specyfikacja wymagań</vt:lpstr>
      <vt:lpstr>Zmiany w planowanym rozwiązaniu</vt:lpstr>
      <vt:lpstr>Model odrzucający nieprzydatne fragmenty</vt:lpstr>
      <vt:lpstr>Zebrane dane</vt:lpstr>
      <vt:lpstr>Sieć oceniająca uszkodzenie tkanki</vt:lpstr>
      <vt:lpstr>Model regresyjny liczący rozgałęzienia</vt:lpstr>
      <vt:lpstr>Aplikacja do analizy zdjęć</vt:lpstr>
      <vt:lpstr>Plany dalszych prac</vt:lpstr>
      <vt:lpstr>Dziękujemy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591</cp:revision>
  <dcterms:created xsi:type="dcterms:W3CDTF">2025-02-11T14:26:28Z</dcterms:created>
  <dcterms:modified xsi:type="dcterms:W3CDTF">2025-06-15T14:13:47Z</dcterms:modified>
</cp:coreProperties>
</file>